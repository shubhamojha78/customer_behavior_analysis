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92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32374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32374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covering demographics, purchases, and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32374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Geographic diversity in customer base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93493" y="534233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8893493" y="63741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3493" y="686454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Items tracked across four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7389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Journey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Analyzed structure and summary statistics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Handled missing values, standardized columns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353056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Distribution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959096" y="3133844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68% of total revenue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3700820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segment represents significant growth opportunity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1658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440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784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6554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761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 rating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440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2784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46554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1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6761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 rating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440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2784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46554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1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6761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 rating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500324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47347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4921806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56420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13243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 rating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500324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47347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4921806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56420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13243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 rating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93790" y="69849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review ratings across all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657" y="389453"/>
            <a:ext cx="4420433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57" y="1115139"/>
            <a:ext cx="13639086" cy="7465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04955" y="8611433"/>
            <a:ext cx="141565" cy="141565"/>
          </a:xfrm>
          <a:prstGeom prst="roundRect">
            <a:avLst>
              <a:gd name="adj" fmla="val 12918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607481" y="8611433"/>
            <a:ext cx="332899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902648" y="8611433"/>
            <a:ext cx="141565" cy="141565"/>
          </a:xfrm>
          <a:prstGeom prst="roundRect">
            <a:avLst>
              <a:gd name="adj" fmla="val 12918"/>
            </a:avLst>
          </a:prstGeom>
          <a:solidFill>
            <a:srgbClr val="9D791E"/>
          </a:solidFill>
          <a:ln/>
        </p:spPr>
      </p:sp>
      <p:sp>
        <p:nvSpPr>
          <p:cNvPr id="7" name="Text 4"/>
          <p:cNvSpPr/>
          <p:nvPr/>
        </p:nvSpPr>
        <p:spPr>
          <a:xfrm>
            <a:off x="7105174" y="8611433"/>
            <a:ext cx="622340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89902" y="8611433"/>
            <a:ext cx="141565" cy="141565"/>
          </a:xfrm>
          <a:prstGeom prst="roundRect">
            <a:avLst>
              <a:gd name="adj" fmla="val 12918"/>
            </a:avLst>
          </a:prstGeom>
          <a:solidFill>
            <a:srgbClr val="DDB44C"/>
          </a:solidFill>
          <a:ln/>
        </p:spPr>
      </p:sp>
      <p:sp>
        <p:nvSpPr>
          <p:cNvPr id="9" name="Text 6"/>
          <p:cNvSpPr/>
          <p:nvPr/>
        </p:nvSpPr>
        <p:spPr>
          <a:xfrm>
            <a:off x="9892427" y="8611433"/>
            <a:ext cx="283488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657" y="9053870"/>
            <a:ext cx="177022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657" y="9416653"/>
            <a:ext cx="6646783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 of customer base shows strong retention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5580" y="9053870"/>
            <a:ext cx="1894046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Growth Opportunity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95580" y="9416653"/>
            <a:ext cx="6646783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returning buyers into loyal segment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1091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123009" y="1630085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014" y="921306"/>
            <a:ext cx="1701165" cy="1701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11818" y="276415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Rate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6835" y="3009305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subscribed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112216" y="1630085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221" y="921306"/>
            <a:ext cx="1701165" cy="1701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01024" y="276415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86042" y="3009305"/>
            <a:ext cx="68475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without subscription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96835" y="3431619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Spending Patterns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6835" y="375761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$59.49 average spend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96835" y="397871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Non-subscribers: $59.87 average spend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96835" y="419981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difference suggests untapped potential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3445788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956"/>
            <a:ext cx="76009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Strategy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95525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2650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9553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12550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862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35291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discount rate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295525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2650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19553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12550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862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35291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 discount rate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295525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26504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195536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12550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862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Coat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35291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 discount rate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454009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450961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19993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437007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107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Sweater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55974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 discount rate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454009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D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450961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419993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437007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107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Pants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55974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 discount rate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793790" y="647283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F3E4B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816923"/>
            <a:ext cx="283488" cy="22681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530906" y="675632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839 customers used discounts but spent above average—balance promotions with margin control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6441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dashboard visualizing key metrics and trends for strategic decision-making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819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increase 27% subscription rate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 beyond 80%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9750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131939"/>
            <a:ext cx="2900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6223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 on high-discount items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43845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marketing campaigns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43845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342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2025-11-13T06:11:07Z</dcterms:created>
  <dcterms:modified xsi:type="dcterms:W3CDTF">2025-11-13T06:11:07Z</dcterms:modified>
</cp:coreProperties>
</file>